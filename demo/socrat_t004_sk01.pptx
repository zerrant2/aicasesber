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294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(15 с) Мы — команда T004, кейс SK01. Наш продукт — «Сократ»: Telegram-бот, который за две минуты собирает для учителя диагностическую работу по ФГОС в трёх уровнях.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6293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(30 с) Улучшаем одно действие учителя — подготовку короткой диагностической работы. Предмет здесь — оболочка, а диагностируются универсальные учебные действия. Решение о ребёнке принимает учитель, бот готовит материал.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613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(35 с) Точного замера у нас нет, поэтому потери — гипотеза, её проверим на пилоте. Главная проблема не только время: при ручной подготовке никто не проверяет арифметику и соответствие программе, а уровни часто отличаются только объёмом.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1354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(35 с) Один законченный сценарий — работа по математике для 3 класса — доведён до полного соответствия кейсу. Готовность к эксплуатации не заявляем: это прототип, учитель — последний контроль.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9577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с) Ключевой принцип — модель пишет, код проверяет. Ссылки на ФГОС модель не придумывает: номер результата и страницу берём из нашего каталога, собранного из официальных программ. Разбор ответа ученика вообще без модели — по правилам, чтобы ничего не «додумать» за ребёнка.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9377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(≈ 2 мин) Живой показ по сценарию DEMO_SCRIPT.md, разделы 0:25–3:40. Показать изменение запроса, а не только готовый образец. Если бот недоступен — видео из репозитория и готовые файлы examples/math_3_all.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4636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с) Все 12 проверок кейса автоматизированы и воспроизводятся одной командой: python scripts/run_case_tests.py. Таблица лежит в reports/case_tests.md. Это результат измерения, а эффект для учителя — ожидаемый, его проверит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0881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(30 с) Стоимость мы измерили: около трёх центов за работу. Экономию времени честно помечаем как гипотезу — её подтвердит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960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(20 с) Команда готова продолжать внедрение. Репозиторий открыт заранее, запуск — одна команда.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0740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(25 с) Предлагаем ограниченный пилот на четыре недели с понятными критериями. Ресурсы — сервер и около двух долларов на API за весь пилот. Решение о запуске — за владельцем кейса. Спасибо!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597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="" xmlns:a16="http://schemas.microsoft.com/office/drawing/2014/main" id="{5A3FA129-39DA-4A24-B5F8-F749F48E9BA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«Сократ» — конструктор диагностических работ по ФГОС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BA10FA9F-C173-46A7-B218-C4449E0E2D25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62AD9225-EFBD-4AE7-A664-63E2B01A1C8C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868DAF4-7509-4912-9534-04FF3EB9FD1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5E67CB4F-402D-48A4-8163-66EB0D803EB4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01" name="Num 1001"/>
          <p:cNvSpPr txBox="1"/>
          <p:nvPr/>
        </p:nvSpPr>
        <p:spPr>
          <a:xfrm>
            <a:off x="609905" y="2304288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25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  <a:endParaRPr lang="ru-RU" sz="2325"/>
          </a:p>
        </p:txBody>
      </p:sp>
      <p:sp>
        <p:nvSpPr>
          <p:cNvPr id="1002" name="Field 1002"/>
          <p:cNvSpPr txBox="1"/>
          <p:nvPr/>
        </p:nvSpPr>
        <p:spPr>
          <a:xfrm>
            <a:off x="1447495" y="23317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T004 Fazbear Entertainment, Inc. · SK01</a:t>
            </a:r>
            <a:endParaRPr lang="ru-RU" sz="2250"/>
          </a:p>
        </p:txBody>
      </p:sp>
      <p:sp>
        <p:nvSpPr>
          <p:cNvPr id="1003" name="Num 1003"/>
          <p:cNvSpPr txBox="1"/>
          <p:nvPr/>
        </p:nvSpPr>
        <p:spPr>
          <a:xfrm>
            <a:off x="609905" y="3035808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25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  <a:endParaRPr lang="ru-RU" sz="2325"/>
          </a:p>
        </p:txBody>
      </p:sp>
      <p:sp>
        <p:nvSpPr>
          <p:cNvPr id="1004" name="Field 1004"/>
          <p:cNvSpPr txBox="1"/>
          <p:nvPr/>
        </p:nvSpPr>
        <p:spPr>
          <a:xfrm>
            <a:off x="1447495" y="30632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Школа «Сократ»</a:t>
            </a:r>
            <a:endParaRPr lang="ru-RU" sz="2250"/>
          </a:p>
        </p:txBody>
      </p:sp>
      <p:sp>
        <p:nvSpPr>
          <p:cNvPr id="1005" name="Num 1005"/>
          <p:cNvSpPr txBox="1"/>
          <p:nvPr/>
        </p:nvSpPr>
        <p:spPr>
          <a:xfrm>
            <a:off x="609905" y="3767328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25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  <a:endParaRPr lang="ru-RU" sz="2325"/>
          </a:p>
        </p:txBody>
      </p:sp>
      <p:sp>
        <p:nvSpPr>
          <p:cNvPr id="1006" name="Field 1006"/>
          <p:cNvSpPr txBox="1"/>
          <p:nvPr/>
        </p:nvSpPr>
        <p:spPr>
          <a:xfrm>
            <a:off x="1447495" y="379476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23–25 сентября 2026</a:t>
            </a:r>
            <a:endParaRPr lang="ru-RU" sz="2250"/>
          </a:p>
        </p:txBody>
      </p:sp>
      <p:sp>
        <p:nvSpPr>
          <p:cNvPr id="1007" name="Tagline 1007"/>
          <p:cNvSpPr txBox="1"/>
          <p:nvPr/>
        </p:nvSpPr>
        <p:spPr>
          <a:xfrm>
            <a:off x="609905" y="46177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1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Telegram-бот: за ~2 минуты собирает диагностическую работу в трёх уровнях — лист ученика и методичку с картой ФГОС</a:t>
            </a:r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38285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8E7A68E6-2110-4916-AB73-A6390141DA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Кейс и пользователь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B17D4908-23BA-4788-970C-36A685F3E5D1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9D72A87E-450C-4F00-B0BB-8767EC90AD6A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A6B0FAF0-DE4A-41CA-8509-0AF617A194F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CFF6EABB-0B67-4B7C-96CF-4B1CE7A3C69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08" name="Num 1008"/>
          <p:cNvSpPr txBox="1"/>
          <p:nvPr/>
        </p:nvSpPr>
        <p:spPr>
          <a:xfrm>
            <a:off x="60990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  <a:endParaRPr lang="ru-RU" sz="2000"/>
          </a:p>
        </p:txBody>
      </p:sp>
      <p:sp>
        <p:nvSpPr>
          <p:cNvPr id="1009" name="Field 1009"/>
          <p:cNvSpPr txBox="1"/>
          <p:nvPr/>
        </p:nvSpPr>
        <p:spPr>
          <a:xfrm>
            <a:off x="1341425" y="173736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7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Владелец процесса: </a:t>
            </a:r>
            <a:r>
              <a:rPr lang="ru-RU" sz="17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методист школы (заместитель директора по УВР)</a:t>
            </a:r>
            <a:endParaRPr lang="ru-RU" sz="1700"/>
          </a:p>
        </p:txBody>
      </p:sp>
      <p:sp>
        <p:nvSpPr>
          <p:cNvPr id="1010" name="Num 1010"/>
          <p:cNvSpPr txBox="1"/>
          <p:nvPr/>
        </p:nvSpPr>
        <p:spPr>
          <a:xfrm>
            <a:off x="609905" y="24048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  <a:endParaRPr lang="ru-RU" sz="2000"/>
          </a:p>
        </p:txBody>
      </p:sp>
      <p:sp>
        <p:nvSpPr>
          <p:cNvPr id="1011" name="Field 1011"/>
          <p:cNvSpPr txBox="1"/>
          <p:nvPr/>
        </p:nvSpPr>
        <p:spPr>
          <a:xfrm>
            <a:off x="1341425" y="242316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7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Пользователь: </a:t>
            </a:r>
            <a:r>
              <a:rPr lang="ru-RU" sz="17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учитель начальных классов; также педагог-психолог и методист</a:t>
            </a:r>
            <a:endParaRPr lang="ru-RU" sz="1700"/>
          </a:p>
        </p:txBody>
      </p:sp>
      <p:sp>
        <p:nvSpPr>
          <p:cNvPr id="1012" name="Num 1012"/>
          <p:cNvSpPr txBox="1"/>
          <p:nvPr/>
        </p:nvSpPr>
        <p:spPr>
          <a:xfrm>
            <a:off x="609905" y="30906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  <a:endParaRPr lang="ru-RU" sz="2000"/>
          </a:p>
        </p:txBody>
      </p:sp>
      <p:sp>
        <p:nvSpPr>
          <p:cNvPr id="1013" name="Field 1013"/>
          <p:cNvSpPr txBox="1"/>
          <p:nvPr/>
        </p:nvSpPr>
        <p:spPr>
          <a:xfrm>
            <a:off x="1341425" y="310896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7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Ситуация: </a:t>
            </a:r>
            <a:r>
              <a:rPr lang="ru-RU" sz="17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тема пройдена (например, «Внетабличное умножение и деление», 3 класс). За 15–20 минут урока нужно проверить не только ответ, но и учебные действия: выбор способа, план, проверку, объяснение</a:t>
            </a:r>
            <a:endParaRPr lang="ru-RU" sz="1700"/>
          </a:p>
        </p:txBody>
      </p:sp>
      <p:sp>
        <p:nvSpPr>
          <p:cNvPr id="1014" name="Num 1014"/>
          <p:cNvSpPr txBox="1"/>
          <p:nvPr/>
        </p:nvSpPr>
        <p:spPr>
          <a:xfrm>
            <a:off x="609905" y="42336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  <a:endParaRPr lang="ru-RU" sz="2000"/>
          </a:p>
        </p:txBody>
      </p:sp>
      <p:sp>
        <p:nvSpPr>
          <p:cNvPr id="1015" name="Field 1015"/>
          <p:cNvSpPr txBox="1"/>
          <p:nvPr/>
        </p:nvSpPr>
        <p:spPr>
          <a:xfrm>
            <a:off x="1341425" y="425196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7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Результат: </a:t>
            </a:r>
            <a:r>
              <a:rPr lang="ru-RU" sz="17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учитель получает готовую работу в трёх уровнях и методичку с привязкой к ФГОС вместо ручного подбора заданий «на глаз»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135307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56FB4003-5216-4D76-9246-B4FDACCA9DA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Проблема и исходный уровень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16" name="Num 1016"/>
          <p:cNvSpPr txBox="1"/>
          <p:nvPr/>
        </p:nvSpPr>
        <p:spPr>
          <a:xfrm>
            <a:off x="609905" y="16733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  <a:endParaRPr lang="ru-RU" sz="2000"/>
          </a:p>
        </p:txBody>
      </p:sp>
      <p:sp>
        <p:nvSpPr>
          <p:cNvPr id="1017" name="Field 1017"/>
          <p:cNvSpPr txBox="1"/>
          <p:nvPr/>
        </p:nvSpPr>
        <p:spPr>
          <a:xfrm>
            <a:off x="1341425" y="16916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Сегодня: </a:t>
            </a:r>
            <a:r>
              <a:rPr lang="ru-RU" sz="15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учитель подбирает задания из учебника и интернета «на глаз», сам пишет три версии и комментарий. Связь с планируемыми результатами ФГОС не фиксируется</a:t>
            </a:r>
            <a:endParaRPr lang="ru-RU" sz="1500"/>
          </a:p>
        </p:txBody>
      </p:sp>
      <p:sp>
        <p:nvSpPr>
          <p:cNvPr id="1018" name="Num 1018"/>
          <p:cNvSpPr txBox="1"/>
          <p:nvPr/>
        </p:nvSpPr>
        <p:spPr>
          <a:xfrm>
            <a:off x="609905" y="25877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  <a:endParaRPr lang="ru-RU" sz="2000"/>
          </a:p>
        </p:txBody>
      </p:sp>
      <p:sp>
        <p:nvSpPr>
          <p:cNvPr id="1019" name="Field 1019"/>
          <p:cNvSpPr txBox="1"/>
          <p:nvPr/>
        </p:nvSpPr>
        <p:spPr>
          <a:xfrm>
            <a:off x="1341425" y="260604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Потери </a:t>
            </a:r>
            <a:r>
              <a:rPr lang="ru-RU" sz="1500" b="1" dirty="0">
                <a:solidFill>
                  <a:srgbClr val="B5651D"/>
                </a:solidFill>
                <a:latin typeface="Arial"/>
                <a:ea typeface="Arial"/>
                <a:cs typeface="Arial"/>
              </a:rPr>
              <a:t>(гипотеза):</a:t>
            </a:r>
            <a:r>
              <a:rPr lang="ru-RU" sz="15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1,5–3 часа на одну работу в трёх уровнях с методическим комментарием; ошибки в ответах и ссылках никто не проверяет; работы превращаются либо в тест на факты, либо в задания с непонятной ребёнку лексикой</a:t>
            </a:r>
            <a:endParaRPr lang="ru-RU" sz="1500"/>
          </a:p>
        </p:txBody>
      </p:sp>
      <p:sp>
        <p:nvSpPr>
          <p:cNvPr id="1020" name="Num 1020"/>
          <p:cNvSpPr txBox="1"/>
          <p:nvPr/>
        </p:nvSpPr>
        <p:spPr>
          <a:xfrm>
            <a:off x="609905" y="37307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  <a:endParaRPr lang="ru-RU" sz="2000"/>
          </a:p>
        </p:txBody>
      </p:sp>
      <p:sp>
        <p:nvSpPr>
          <p:cNvPr id="1021" name="Field 1021"/>
          <p:cNvSpPr txBox="1"/>
          <p:nvPr/>
        </p:nvSpPr>
        <p:spPr>
          <a:xfrm>
            <a:off x="1341425" y="37490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Основание: </a:t>
            </a:r>
            <a:r>
              <a:rPr lang="ru-RU" sz="15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концепция владельца кейса и учебный набор SK01. Замера времени учителей не проводили — исходные данные подтверждает владелец кейса на пилоте (5–10 учителей)</a:t>
            </a:r>
            <a:endParaRPr lang="ru-RU" sz="1500"/>
          </a:p>
        </p:txBody>
      </p:sp>
      <p:sp>
        <p:nvSpPr>
          <p:cNvPr id="1022" name="Num 1022"/>
          <p:cNvSpPr txBox="1"/>
          <p:nvPr/>
        </p:nvSpPr>
        <p:spPr>
          <a:xfrm>
            <a:off x="609905" y="46451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  <a:endParaRPr lang="ru-RU" sz="2000"/>
          </a:p>
        </p:txBody>
      </p:sp>
      <p:sp>
        <p:nvSpPr>
          <p:cNvPr id="1023" name="Field 1023"/>
          <p:cNvSpPr txBox="1"/>
          <p:nvPr/>
        </p:nvSpPr>
        <p:spPr>
          <a:xfrm>
            <a:off x="1341425" y="46634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Цель: черновик работы за ≤ 3 мин генерации + ≤ 10 мин проверки учителем;</a:t>
            </a:r>
            <a:r>
              <a:rPr lang="ru-RU" sz="15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100% ответов проверены кодом; 100% ссылок на ФГОС — с источником и страницей</a:t>
            </a:r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5858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5207F404-7B66-406A-95AE-C4CDDB63CD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3AB0A61-CDC3-407C-9071-108F460B04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817FCE93-FE2A-434A-BF43-804718CA4958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4B2C45E1-0527-4D0D-B55C-676A24646624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2D42790E-08D6-4913-BB25-A29C1FA4A1A8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24" name="Num 1024"/>
          <p:cNvSpPr txBox="1"/>
          <p:nvPr/>
        </p:nvSpPr>
        <p:spPr>
          <a:xfrm>
            <a:off x="609905" y="153619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025" name="Text 1025"/>
          <p:cNvSpPr txBox="1"/>
          <p:nvPr/>
        </p:nvSpPr>
        <p:spPr>
          <a:xfrm>
            <a:off x="1176833" y="157276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Сценарий:</a:t>
            </a:r>
            <a:endParaRPr lang="ru-RU" sz="1400"/>
          </a:p>
        </p:txBody>
      </p:sp>
      <p:sp>
        <p:nvSpPr>
          <p:cNvPr id="1026" name="Card 1026"/>
          <p:cNvSpPr/>
          <p:nvPr/>
        </p:nvSpPr>
        <p:spPr>
          <a:xfrm>
            <a:off x="1176833" y="1965960"/>
            <a:ext cx="868680" cy="420624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27" name="Text 1027"/>
          <p:cNvSpPr txBox="1"/>
          <p:nvPr/>
        </p:nvSpPr>
        <p:spPr>
          <a:xfrm>
            <a:off x="1176833" y="1965960"/>
            <a:ext cx="8686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класс</a:t>
            </a:r>
            <a:endParaRPr lang="ru-RU" sz="1250"/>
          </a:p>
        </p:txBody>
      </p:sp>
      <p:sp>
        <p:nvSpPr>
          <p:cNvPr id="1028" name="Text 1028"/>
          <p:cNvSpPr txBox="1"/>
          <p:nvPr/>
        </p:nvSpPr>
        <p:spPr>
          <a:xfrm>
            <a:off x="2045513" y="1965960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→</a:t>
            </a:r>
            <a:endParaRPr lang="ru-RU" sz="1400"/>
          </a:p>
        </p:txBody>
      </p:sp>
      <p:sp>
        <p:nvSpPr>
          <p:cNvPr id="1029" name="Card 1029"/>
          <p:cNvSpPr/>
          <p:nvPr/>
        </p:nvSpPr>
        <p:spPr>
          <a:xfrm>
            <a:off x="2319833" y="1965960"/>
            <a:ext cx="1097280" cy="420624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30" name="Text 1030"/>
          <p:cNvSpPr txBox="1"/>
          <p:nvPr/>
        </p:nvSpPr>
        <p:spPr>
          <a:xfrm>
            <a:off x="2319833" y="196596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предмет</a:t>
            </a:r>
            <a:endParaRPr lang="ru-RU" sz="1250"/>
          </a:p>
        </p:txBody>
      </p:sp>
      <p:sp>
        <p:nvSpPr>
          <p:cNvPr id="1031" name="Text 1031"/>
          <p:cNvSpPr txBox="1"/>
          <p:nvPr/>
        </p:nvSpPr>
        <p:spPr>
          <a:xfrm>
            <a:off x="3417113" y="1965960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→</a:t>
            </a:r>
            <a:endParaRPr lang="ru-RU" sz="1400"/>
          </a:p>
        </p:txBody>
      </p:sp>
      <p:sp>
        <p:nvSpPr>
          <p:cNvPr id="1032" name="Card 1032"/>
          <p:cNvSpPr/>
          <p:nvPr/>
        </p:nvSpPr>
        <p:spPr>
          <a:xfrm>
            <a:off x="3691433" y="1965960"/>
            <a:ext cx="777240" cy="420624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33" name="Text 1033"/>
          <p:cNvSpPr txBox="1"/>
          <p:nvPr/>
        </p:nvSpPr>
        <p:spPr>
          <a:xfrm>
            <a:off x="3691433" y="196596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тема</a:t>
            </a:r>
            <a:endParaRPr lang="ru-RU" sz="1250"/>
          </a:p>
        </p:txBody>
      </p:sp>
      <p:sp>
        <p:nvSpPr>
          <p:cNvPr id="1034" name="Text 1034"/>
          <p:cNvSpPr txBox="1"/>
          <p:nvPr/>
        </p:nvSpPr>
        <p:spPr>
          <a:xfrm>
            <a:off x="4468673" y="1965960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→</a:t>
            </a:r>
            <a:endParaRPr lang="ru-RU" sz="1400"/>
          </a:p>
        </p:txBody>
      </p:sp>
      <p:sp>
        <p:nvSpPr>
          <p:cNvPr id="1035" name="Card 1035"/>
          <p:cNvSpPr/>
          <p:nvPr/>
        </p:nvSpPr>
        <p:spPr>
          <a:xfrm>
            <a:off x="4742993" y="1965960"/>
            <a:ext cx="1097280" cy="420624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36" name="Text 1036"/>
          <p:cNvSpPr txBox="1"/>
          <p:nvPr/>
        </p:nvSpPr>
        <p:spPr>
          <a:xfrm>
            <a:off x="4742993" y="196596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уровень</a:t>
            </a:r>
            <a:endParaRPr lang="ru-RU" sz="1250"/>
          </a:p>
        </p:txBody>
      </p:sp>
      <p:sp>
        <p:nvSpPr>
          <p:cNvPr id="1037" name="Text 1037"/>
          <p:cNvSpPr txBox="1"/>
          <p:nvPr/>
        </p:nvSpPr>
        <p:spPr>
          <a:xfrm>
            <a:off x="5840273" y="1965960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→</a:t>
            </a:r>
            <a:endParaRPr lang="ru-RU" sz="1400"/>
          </a:p>
        </p:txBody>
      </p:sp>
      <p:sp>
        <p:nvSpPr>
          <p:cNvPr id="1038" name="Card 1038"/>
          <p:cNvSpPr/>
          <p:nvPr/>
        </p:nvSpPr>
        <p:spPr>
          <a:xfrm>
            <a:off x="6114593" y="1965960"/>
            <a:ext cx="1325880" cy="420624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39" name="Text 1039"/>
          <p:cNvSpPr txBox="1"/>
          <p:nvPr/>
        </p:nvSpPr>
        <p:spPr>
          <a:xfrm>
            <a:off x="6114593" y="1965960"/>
            <a:ext cx="13258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фокус УУД</a:t>
            </a:r>
            <a:endParaRPr lang="ru-RU" sz="1250"/>
          </a:p>
        </p:txBody>
      </p:sp>
      <p:sp>
        <p:nvSpPr>
          <p:cNvPr id="1040" name="Text 1040"/>
          <p:cNvSpPr txBox="1"/>
          <p:nvPr/>
        </p:nvSpPr>
        <p:spPr>
          <a:xfrm>
            <a:off x="7440473" y="1965960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→</a:t>
            </a:r>
            <a:endParaRPr lang="ru-RU" sz="1400"/>
          </a:p>
        </p:txBody>
      </p:sp>
      <p:sp>
        <p:nvSpPr>
          <p:cNvPr id="1041" name="Card 1041"/>
          <p:cNvSpPr/>
          <p:nvPr/>
        </p:nvSpPr>
        <p:spPr>
          <a:xfrm>
            <a:off x="7714793" y="1965960"/>
            <a:ext cx="1600200" cy="420624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42" name="Text 1042"/>
          <p:cNvSpPr txBox="1"/>
          <p:nvPr/>
        </p:nvSpPr>
        <p:spPr>
          <a:xfrm>
            <a:off x="7714793" y="1965960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число заданий</a:t>
            </a:r>
            <a:endParaRPr lang="ru-RU" sz="1250"/>
          </a:p>
        </p:txBody>
      </p:sp>
      <p:sp>
        <p:nvSpPr>
          <p:cNvPr id="1043" name="Text 1043"/>
          <p:cNvSpPr txBox="1"/>
          <p:nvPr/>
        </p:nvSpPr>
        <p:spPr>
          <a:xfrm>
            <a:off x="9314993" y="1965960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→</a:t>
            </a:r>
            <a:endParaRPr lang="ru-RU" sz="1400"/>
          </a:p>
        </p:txBody>
      </p:sp>
      <p:sp>
        <p:nvSpPr>
          <p:cNvPr id="1044" name="Card 1044"/>
          <p:cNvSpPr/>
          <p:nvPr/>
        </p:nvSpPr>
        <p:spPr>
          <a:xfrm>
            <a:off x="9589313" y="1965960"/>
            <a:ext cx="1600200" cy="420624"/>
          </a:xfrm>
          <a:prstGeom prst="roundRect">
            <a:avLst>
              <a:gd name="adj" fmla="val 5000"/>
            </a:avLst>
          </a:prstGeom>
          <a:solidFill>
            <a:srgbClr val="19AAB8"/>
          </a:solidFill>
          <a:ln>
            <a:noFill/>
          </a:ln>
        </p:spPr>
      </p:sp>
      <p:sp>
        <p:nvSpPr>
          <p:cNvPr id="1045" name="Text 1045"/>
          <p:cNvSpPr txBox="1"/>
          <p:nvPr/>
        </p:nvSpPr>
        <p:spPr>
          <a:xfrm>
            <a:off x="9589313" y="1965960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2 файла Word</a:t>
            </a:r>
            <a:endParaRPr lang="ru-RU" sz="1250"/>
          </a:p>
        </p:txBody>
      </p:sp>
      <p:sp>
        <p:nvSpPr>
          <p:cNvPr id="1046" name="Text 1046"/>
          <p:cNvSpPr txBox="1"/>
          <p:nvPr/>
        </p:nvSpPr>
        <p:spPr>
          <a:xfrm>
            <a:off x="1176833" y="245059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лист ученика без ответов + методичка с решениями и картой ФГОС</a:t>
            </a:r>
            <a:endParaRPr lang="ru-RU" sz="1250"/>
          </a:p>
        </p:txBody>
      </p:sp>
      <p:sp>
        <p:nvSpPr>
          <p:cNvPr id="1047" name="Card 1047"/>
          <p:cNvSpPr/>
          <p:nvPr/>
        </p:nvSpPr>
        <p:spPr>
          <a:xfrm>
            <a:off x="609905" y="2880360"/>
            <a:ext cx="3749040" cy="260604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48" name="Num 1048"/>
          <p:cNvSpPr txBox="1"/>
          <p:nvPr/>
        </p:nvSpPr>
        <p:spPr>
          <a:xfrm>
            <a:off x="792785" y="3026664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  <a:endParaRPr lang="ru-RU" sz="1800"/>
          </a:p>
        </p:txBody>
      </p:sp>
      <p:sp>
        <p:nvSpPr>
          <p:cNvPr id="1049" name="Field 1049"/>
          <p:cNvSpPr txBox="1"/>
          <p:nvPr/>
        </p:nvSpPr>
        <p:spPr>
          <a:xfrm>
            <a:off x="1359713" y="3063240"/>
            <a:ext cx="2816352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прототипе:</a:t>
            </a:r>
            <a:endParaRPr lang="ru-RU" sz="135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генерация 1–9 классов</a:t>
            </a:r>
            <a:endParaRPr lang="ru-RU" sz="135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кодом: арифметика, утечка ответа, цитаты-основания УУД</a:t>
            </a:r>
            <a:endParaRPr lang="ru-RU" sz="135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замена задания по пожеланию</a:t>
            </a:r>
            <a:endParaRPr lang="ru-RU" sz="135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разбор ответа ученика</a:t>
            </a:r>
            <a:endParaRPr lang="ru-RU" sz="135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анализ типичной ошибки класса</a:t>
            </a:r>
            <a:endParaRPr lang="ru-RU" sz="135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админ-панель: педагоги, база ФГОС, расходы</a:t>
            </a:r>
            <a:endParaRPr lang="ru-RU" sz="1350"/>
          </a:p>
        </p:txBody>
      </p:sp>
      <p:sp>
        <p:nvSpPr>
          <p:cNvPr id="1050" name="Card 1050"/>
          <p:cNvSpPr/>
          <p:nvPr/>
        </p:nvSpPr>
        <p:spPr>
          <a:xfrm>
            <a:off x="4633265" y="2880360"/>
            <a:ext cx="3291840" cy="260604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51" name="Num 1051"/>
          <p:cNvSpPr txBox="1"/>
          <p:nvPr/>
        </p:nvSpPr>
        <p:spPr>
          <a:xfrm>
            <a:off x="4816145" y="3026664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  <a:endParaRPr lang="ru-RU" sz="1800"/>
          </a:p>
        </p:txBody>
      </p:sp>
      <p:sp>
        <p:nvSpPr>
          <p:cNvPr id="1052" name="Field 1052"/>
          <p:cNvSpPr txBox="1"/>
          <p:nvPr/>
        </p:nvSpPr>
        <p:spPr>
          <a:xfrm>
            <a:off x="5383073" y="3063240"/>
            <a:ext cx="2359152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не реализовано: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визуальная подача (T04)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10–11 классы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разные акценты методички для психолога и методиста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оплата</a:t>
            </a:r>
            <a:endParaRPr lang="ru-RU" sz="1350" dirty="0"/>
          </a:p>
        </p:txBody>
      </p:sp>
      <p:sp>
        <p:nvSpPr>
          <p:cNvPr id="1053" name="Card 1053"/>
          <p:cNvSpPr/>
          <p:nvPr/>
        </p:nvSpPr>
        <p:spPr>
          <a:xfrm>
            <a:off x="8199425" y="2880360"/>
            <a:ext cx="3383280" cy="260604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054" name="Num 1054"/>
          <p:cNvSpPr txBox="1"/>
          <p:nvPr/>
        </p:nvSpPr>
        <p:spPr>
          <a:xfrm>
            <a:off x="8382305" y="3026664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  <a:endParaRPr lang="ru-RU" sz="1800"/>
          </a:p>
        </p:txBody>
      </p:sp>
      <p:sp>
        <p:nvSpPr>
          <p:cNvPr id="1055" name="Field 1055"/>
          <p:cNvSpPr txBox="1"/>
          <p:nvPr/>
        </p:nvSpPr>
        <p:spPr>
          <a:xfrm>
            <a:off x="8949233" y="3063240"/>
            <a:ext cx="2450592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человеком: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учитель просматривает методичку до урока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показывает предупреждения автопроверки</a:t>
            </a:r>
            <a:endParaRPr lang="ru-RU" sz="135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никаких диагнозов и выводов о личности</a:t>
            </a:r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17090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542A34CC-A3D0-46DA-92D1-0561E08A480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 и технический подход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0D48409C-59FC-4433-B24F-997F5AA02C7C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A2E10167-6C78-49BC-B131-038FDABE984B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F1C26C12-D7BC-4832-9104-607EB769D341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078FCB59-63E2-48D8-93B9-07B007F2CC8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56" name="Card 1056"/>
          <p:cNvSpPr/>
          <p:nvPr/>
        </p:nvSpPr>
        <p:spPr>
          <a:xfrm>
            <a:off x="609905" y="1572768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7" name="Num 1057"/>
          <p:cNvSpPr txBox="1"/>
          <p:nvPr/>
        </p:nvSpPr>
        <p:spPr>
          <a:xfrm>
            <a:off x="79278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058" name="Field 1058"/>
          <p:cNvSpPr txBox="1"/>
          <p:nvPr/>
        </p:nvSpPr>
        <p:spPr>
          <a:xfrm>
            <a:off x="1359713" y="1755648"/>
            <a:ext cx="441655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Данные:</a:t>
            </a:r>
            <a:endParaRPr lang="ru-RU" sz="13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федеральные рабочие программы 2025 (edsoo.ru, открытые документы): начальная школа — 4 предмета, основная — 6</a:t>
            </a:r>
            <a:endParaRPr lang="ru-RU" sz="13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1133</a:t>
            </a: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планируемых результата в каталоге — с разделом и страницей</a:t>
            </a:r>
            <a:endParaRPr lang="ru-RU" sz="13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учебный набор кейса SK01; 15 методических приёмов</a:t>
            </a:r>
            <a:endParaRPr lang="ru-RU" sz="13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данных детей нет</a:t>
            </a:r>
            <a:endParaRPr lang="ru-RU" sz="1300"/>
          </a:p>
        </p:txBody>
      </p:sp>
      <p:sp>
        <p:nvSpPr>
          <p:cNvPr id="1059" name="Card 1059"/>
          <p:cNvSpPr/>
          <p:nvPr/>
        </p:nvSpPr>
        <p:spPr>
          <a:xfrm>
            <a:off x="6233465" y="1572768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60" name="Num 1060"/>
          <p:cNvSpPr txBox="1"/>
          <p:nvPr/>
        </p:nvSpPr>
        <p:spPr>
          <a:xfrm>
            <a:off x="641634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  <a:endParaRPr lang="ru-RU" sz="1800"/>
          </a:p>
        </p:txBody>
      </p:sp>
      <p:sp>
        <p:nvSpPr>
          <p:cNvPr id="1061" name="Field 1061"/>
          <p:cNvSpPr txBox="1"/>
          <p:nvPr/>
        </p:nvSpPr>
        <p:spPr>
          <a:xfrm>
            <a:off x="6983273" y="1755648"/>
            <a:ext cx="441655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Подход — «модель пишет, код проверяет»:</a:t>
            </a:r>
            <a:endParaRPr lang="ru-RU" sz="1300"/>
          </a:p>
          <a:p>
            <a:pPr marL="246888" indent="-246888" algn="l">
              <a:spcBef>
                <a:spcPts val="0"/>
              </a:spcBef>
              <a:spcAft>
                <a:spcPts val="300"/>
              </a:spcAft>
              <a:buFont typeface="Arial"/>
              <a:buAutoNum type="arabicPeriod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Код строит чертёж работы: типы заданий и какие УУД должны стать видимыми.</a:t>
            </a:r>
            <a:endParaRPr lang="ru-RU" sz="1300"/>
          </a:p>
          <a:p>
            <a:pPr marL="246888" indent="-246888" algn="l">
              <a:spcBef>
                <a:spcPts val="0"/>
              </a:spcBef>
              <a:spcAft>
                <a:spcPts val="300"/>
              </a:spcAft>
              <a:buFont typeface="Arial"/>
              <a:buAutoNum type="arabicPeriod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Модель пишет задания только по результатам из каталога.</a:t>
            </a:r>
            <a:endParaRPr lang="ru-RU" sz="1300"/>
          </a:p>
          <a:p>
            <a:pPr marL="246888" indent="-246888" algn="l">
              <a:spcBef>
                <a:spcPts val="0"/>
              </a:spcBef>
              <a:spcAft>
                <a:spcPts val="300"/>
              </a:spcAft>
              <a:buFont typeface="Arial"/>
              <a:buAutoNum type="arabicPeriod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Код проверяет арифметику, отсутствие ответа у ученика, цитаты-основания УУД и лексику; при ошибке — возврат модели на исправление.</a:t>
            </a:r>
            <a:endParaRPr lang="ru-RU" sz="1300"/>
          </a:p>
        </p:txBody>
      </p:sp>
      <p:sp>
        <p:nvSpPr>
          <p:cNvPr id="1062" name="Card 1062"/>
          <p:cNvSpPr/>
          <p:nvPr/>
        </p:nvSpPr>
        <p:spPr>
          <a:xfrm>
            <a:off x="609905" y="4041648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63" name="Num 1063"/>
          <p:cNvSpPr txBox="1"/>
          <p:nvPr/>
        </p:nvSpPr>
        <p:spPr>
          <a:xfrm>
            <a:off x="792785" y="41879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  <a:endParaRPr lang="ru-RU" sz="1800"/>
          </a:p>
        </p:txBody>
      </p:sp>
      <p:sp>
        <p:nvSpPr>
          <p:cNvPr id="1064" name="Field 1064"/>
          <p:cNvSpPr txBox="1"/>
          <p:nvPr/>
        </p:nvSpPr>
        <p:spPr>
          <a:xfrm>
            <a:off x="1359713" y="4224528"/>
            <a:ext cx="441655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Среда: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Python 3.12, Telegram-бот (aiogram), SQLite, Docker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en-US" sz="1300" dirty="0" smtClean="0">
                <a:solidFill>
                  <a:srgbClr val="052849"/>
                </a:solidFill>
                <a:latin typeface="Arial"/>
                <a:ea typeface="Arial"/>
                <a:cs typeface="Arial"/>
              </a:rPr>
              <a:t>GPT6 Luna </a:t>
            </a:r>
            <a:r>
              <a:rPr lang="ru-RU" sz="1300" b="0" dirty="0" smtClean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через </a:t>
            </a: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OpenRouter или локальная модель (Ollama / vLLM) — меняется в .env</a:t>
            </a:r>
            <a:endParaRPr lang="ru-RU" sz="1300" dirty="0"/>
          </a:p>
        </p:txBody>
      </p:sp>
      <p:sp>
        <p:nvSpPr>
          <p:cNvPr id="1065" name="Card 1065"/>
          <p:cNvSpPr/>
          <p:nvPr/>
        </p:nvSpPr>
        <p:spPr>
          <a:xfrm>
            <a:off x="6233465" y="4041648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66" name="Num 1066"/>
          <p:cNvSpPr txBox="1"/>
          <p:nvPr/>
        </p:nvSpPr>
        <p:spPr>
          <a:xfrm>
            <a:off x="6416345" y="41879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  <a:endParaRPr lang="ru-RU" sz="1800"/>
          </a:p>
        </p:txBody>
      </p:sp>
      <p:sp>
        <p:nvSpPr>
          <p:cNvPr id="1067" name="Field 1067"/>
          <p:cNvSpPr txBox="1"/>
          <p:nvPr/>
        </p:nvSpPr>
        <p:spPr>
          <a:xfrm>
            <a:off x="6983273" y="4224528"/>
            <a:ext cx="441655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Ограничения: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ответ модели недетерминирован; тарифы API меняются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учебники («Школа России» и др.) не используем из-за авторских прав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поиск тем может ошибаться на соседних классах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97318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38" y="2008210"/>
            <a:ext cx="2263013" cy="3542998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297DE71D-C8F7-441E-A974-74471E7E7F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Демонстрация прототипа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59325892-07A3-4C22-BF00-189E9711A62B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7E0D6738-C1AE-43EF-B09B-BF435ED2D59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AAB487BE-3C5F-4FCE-ABD3-7B1CBC0A3EA5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2D6AD52C-75CC-4D72-A14C-9F80F575AAE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68" name="Num 1068"/>
          <p:cNvSpPr txBox="1"/>
          <p:nvPr/>
        </p:nvSpPr>
        <p:spPr>
          <a:xfrm>
            <a:off x="609905" y="1481328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069" name="Text 1069"/>
          <p:cNvSpPr txBox="1"/>
          <p:nvPr/>
        </p:nvSpPr>
        <p:spPr>
          <a:xfrm>
            <a:off x="1176833" y="1517904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Скриншот:</a:t>
            </a:r>
            <a:r>
              <a:rPr lang="ru-RU" sz="1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лист ученика и карта ФГОС из методички</a:t>
            </a:r>
            <a:endParaRPr lang="ru-RU" sz="1250"/>
          </a:p>
        </p:txBody>
      </p:sp>
      <p:sp>
        <p:nvSpPr>
          <p:cNvPr id="1070" name="Num 1070"/>
          <p:cNvSpPr txBox="1"/>
          <p:nvPr/>
        </p:nvSpPr>
        <p:spPr>
          <a:xfrm>
            <a:off x="7086600" y="1499616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  <a:endParaRPr lang="ru-RU" sz="2000"/>
          </a:p>
        </p:txBody>
      </p:sp>
      <p:sp>
        <p:nvSpPr>
          <p:cNvPr id="1071" name="Field 1071"/>
          <p:cNvSpPr txBox="1"/>
          <p:nvPr/>
        </p:nvSpPr>
        <p:spPr>
          <a:xfrm>
            <a:off x="7818120" y="1517904"/>
            <a:ext cx="376458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Вход: </a:t>
            </a:r>
            <a:r>
              <a:rPr lang="ru-RU" sz="13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класс, математика, «Внетабличное умножение и деление», все уровни, все группы УУД, 4 задания</a:t>
            </a:r>
            <a:endParaRPr lang="ru-RU" sz="1300" dirty="0"/>
          </a:p>
        </p:txBody>
      </p:sp>
      <p:sp>
        <p:nvSpPr>
          <p:cNvPr id="1072" name="Num 1072"/>
          <p:cNvSpPr txBox="1"/>
          <p:nvPr/>
        </p:nvSpPr>
        <p:spPr>
          <a:xfrm>
            <a:off x="7086600" y="25877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  <a:endParaRPr lang="ru-RU" sz="2000"/>
          </a:p>
        </p:txBody>
      </p:sp>
      <p:sp>
        <p:nvSpPr>
          <p:cNvPr id="1073" name="Field 1073"/>
          <p:cNvSpPr txBox="1"/>
          <p:nvPr/>
        </p:nvSpPr>
        <p:spPr>
          <a:xfrm>
            <a:off x="7818120" y="2606040"/>
            <a:ext cx="3764585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Выход: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~2 мин</a:t>
            </a:r>
            <a:r>
              <a:rPr lang="ru-RU" sz="13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— 12 заданий в трёх вариантах, 17 / 17,5 / 18,5 мин по расчёту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листе ученика нет ответов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методичке — решения, P01 «ФРП Математика 1–4, стр. 23», признаки УУД, типичные ошибки</a:t>
            </a:r>
            <a:endParaRPr lang="ru-RU" sz="1300" dirty="0"/>
          </a:p>
        </p:txBody>
      </p:sp>
      <p:sp>
        <p:nvSpPr>
          <p:cNvPr id="1074" name="Num 1074"/>
          <p:cNvSpPr txBox="1"/>
          <p:nvPr/>
        </p:nvSpPr>
        <p:spPr>
          <a:xfrm>
            <a:off x="7086600" y="450799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  <a:endParaRPr lang="ru-RU" sz="2000"/>
          </a:p>
        </p:txBody>
      </p:sp>
      <p:sp>
        <p:nvSpPr>
          <p:cNvPr id="1075" name="Field 1075"/>
          <p:cNvSpPr txBox="1"/>
          <p:nvPr/>
        </p:nvSpPr>
        <p:spPr>
          <a:xfrm>
            <a:off x="7818120" y="4450305"/>
            <a:ext cx="376458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Резерв:</a:t>
            </a:r>
            <a:endParaRPr lang="ru-RU" sz="1300" dirty="0"/>
          </a:p>
          <a:p>
            <a:pPr marL="201168" indent="-201168"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видео: </a:t>
            </a:r>
            <a:r>
              <a:rPr lang="ru-RU" sz="1300" b="1" dirty="0" smtClean="0">
                <a:solidFill>
                  <a:srgbClr val="F2B84B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1300" b="1" dirty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https://drive.google.com/file/d/1uEdYlYVQFp97knbur_bC3rtSaEp3Zj-e/view?usp=sharing</a:t>
            </a:r>
            <a:r>
              <a:rPr lang="ru-RU" sz="1300" b="1" dirty="0" smtClean="0">
                <a:solidFill>
                  <a:srgbClr val="F2B84B"/>
                </a:solidFill>
                <a:latin typeface="Arial"/>
                <a:ea typeface="Arial"/>
                <a:cs typeface="Arial"/>
              </a:rPr>
              <a:t>]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3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готовый пример — examples/math_3_all</a:t>
            </a:r>
            <a:endParaRPr lang="ru-RU" sz="1300" dirty="0"/>
          </a:p>
        </p:txBody>
      </p:sp>
      <p:pic>
        <p:nvPicPr>
          <p:cNvPr id="1137" name="Лист ученика, вариант А" descr="Лист ученика, вариант А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5" y="2011680"/>
            <a:ext cx="2743200" cy="2518703"/>
          </a:xfrm>
          <a:prstGeom prst="rect">
            <a:avLst/>
          </a:prstGeom>
          <a:effectLst>
            <a:outerShdw blurRad="76200" dist="25400" dir="5400000" algn="t" rotWithShape="0">
              <a:srgbClr val="000000">
                <a:alpha val="35000"/>
              </a:srgbClr>
            </a:outerShdw>
          </a:effectLst>
        </p:spPr>
      </p:pic>
      <p:pic>
        <p:nvPicPr>
          <p:cNvPr id="1138" name="Карта результатов ФГОС в методичке" descr="Карта результатов ФГОС в методичке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" y="3457435"/>
            <a:ext cx="3840480" cy="2244292"/>
          </a:xfrm>
          <a:prstGeom prst="rect">
            <a:avLst/>
          </a:prstGeom>
          <a:effectLst>
            <a:outerShdw blurRad="76200" dist="25400" dir="5400000" algn="t" rotWithShape="0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66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9BFB8A71-0D31-4A9B-89CD-5DADB90BA65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FC48568B-A510-4C07-9095-5B305366D6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2438A521-E617-465A-8D16-3F6A09D218A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F37E4E6B-ADE4-4FC6-ACE8-445E9DFFD39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4364C2C6-EB1D-489B-9B3D-645FBB2BD8A5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76" name="Card 1076"/>
          <p:cNvSpPr/>
          <p:nvPr/>
        </p:nvSpPr>
        <p:spPr>
          <a:xfrm>
            <a:off x="609905" y="1572768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77" name="Num 1077"/>
          <p:cNvSpPr txBox="1"/>
          <p:nvPr/>
        </p:nvSpPr>
        <p:spPr>
          <a:xfrm>
            <a:off x="79278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078" name="Field 1078"/>
          <p:cNvSpPr txBox="1"/>
          <p:nvPr/>
        </p:nvSpPr>
        <p:spPr>
          <a:xfrm>
            <a:off x="1359713" y="1755648"/>
            <a:ext cx="4325112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2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Метрики: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проверки кейса пройдены (из 12)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доля заданий с арифметикой, проверенной кодом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утечки ответа в лист ученика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результаты с источником и страницей; время и стоимость генерации</a:t>
            </a:r>
            <a:endParaRPr lang="ru-RU" sz="1200"/>
          </a:p>
        </p:txBody>
      </p:sp>
      <p:sp>
        <p:nvSpPr>
          <p:cNvPr id="1079" name="Card 1079"/>
          <p:cNvSpPr/>
          <p:nvPr/>
        </p:nvSpPr>
        <p:spPr>
          <a:xfrm>
            <a:off x="609905" y="3172968"/>
            <a:ext cx="52578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0" name="Num 1080"/>
          <p:cNvSpPr txBox="1"/>
          <p:nvPr/>
        </p:nvSpPr>
        <p:spPr>
          <a:xfrm>
            <a:off x="792785" y="33192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  <a:endParaRPr lang="ru-RU" sz="1800"/>
          </a:p>
        </p:txBody>
      </p:sp>
      <p:sp>
        <p:nvSpPr>
          <p:cNvPr id="1081" name="Field 1081"/>
          <p:cNvSpPr txBox="1"/>
          <p:nvPr/>
        </p:nvSpPr>
        <p:spPr>
          <a:xfrm>
            <a:off x="1359713" y="3355848"/>
            <a:ext cx="43251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2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Базовый способ: </a:t>
            </a: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ручная подготовка учителем — не измерялась; сравнение по времени и ошибкам — задача пилота</a:t>
            </a:r>
            <a:endParaRPr lang="ru-RU" sz="1200"/>
          </a:p>
        </p:txBody>
      </p:sp>
      <p:sp>
        <p:nvSpPr>
          <p:cNvPr id="1082" name="Card 1082"/>
          <p:cNvSpPr/>
          <p:nvPr/>
        </p:nvSpPr>
        <p:spPr>
          <a:xfrm>
            <a:off x="609905" y="4087368"/>
            <a:ext cx="52578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3" name="Num 1083"/>
          <p:cNvSpPr txBox="1"/>
          <p:nvPr/>
        </p:nvSpPr>
        <p:spPr>
          <a:xfrm>
            <a:off x="792785" y="42336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  <a:endParaRPr lang="ru-RU" sz="1800"/>
          </a:p>
        </p:txBody>
      </p:sp>
      <p:sp>
        <p:nvSpPr>
          <p:cNvPr id="1084" name="Field 1084"/>
          <p:cNvSpPr txBox="1"/>
          <p:nvPr/>
        </p:nvSpPr>
        <p:spPr>
          <a:xfrm>
            <a:off x="1359713" y="4270248"/>
            <a:ext cx="4325112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2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Ошибки: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слабые модели иногда пропускают требование к УУД — бот предупреждает учителя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«думающая» модель может потратить лимит на рассуждения (решено настройкой)</a:t>
            </a:r>
            <a:endParaRPr lang="ru-RU" sz="12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2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 5–9 классах соседние классы различаются не всегда</a:t>
            </a:r>
            <a:endParaRPr lang="ru-RU" sz="1200"/>
          </a:p>
        </p:txBody>
      </p:sp>
      <p:sp>
        <p:nvSpPr>
          <p:cNvPr id="1085" name="Card 1085"/>
          <p:cNvSpPr/>
          <p:nvPr/>
        </p:nvSpPr>
        <p:spPr>
          <a:xfrm>
            <a:off x="6142025" y="1572768"/>
            <a:ext cx="54406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6" name="Num 1086"/>
          <p:cNvSpPr txBox="1"/>
          <p:nvPr/>
        </p:nvSpPr>
        <p:spPr>
          <a:xfrm>
            <a:off x="632490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  <a:endParaRPr lang="ru-RU" sz="1800"/>
          </a:p>
        </p:txBody>
      </p:sp>
      <p:sp>
        <p:nvSpPr>
          <p:cNvPr id="1087" name="Text 1087"/>
          <p:cNvSpPr txBox="1"/>
          <p:nvPr/>
        </p:nvSpPr>
        <p:spPr>
          <a:xfrm>
            <a:off x="6891833" y="1755648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Наш прототип</a:t>
            </a: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· замер 24.09.2026</a:t>
            </a:r>
            <a:endParaRPr lang="ru-RU" sz="1300"/>
          </a:p>
        </p:txBody>
      </p:sp>
      <p:sp>
        <p:nvSpPr>
          <p:cNvPr id="1088" name="Text 1088"/>
          <p:cNvSpPr txBox="1"/>
          <p:nvPr/>
        </p:nvSpPr>
        <p:spPr>
          <a:xfrm>
            <a:off x="6416345" y="2240280"/>
            <a:ext cx="23088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11 / 12</a:t>
            </a:r>
            <a:endParaRPr lang="ru-RU" sz="2600" dirty="0"/>
          </a:p>
        </p:txBody>
      </p:sp>
      <p:sp>
        <p:nvSpPr>
          <p:cNvPr id="1089" name="Text 1089"/>
          <p:cNvSpPr txBox="1"/>
          <p:nvPr/>
        </p:nvSpPr>
        <p:spPr>
          <a:xfrm>
            <a:off x="6416345" y="2715768"/>
            <a:ext cx="2308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проверок кейса пройдено (T04 отложен) + тест на реальной модели</a:t>
            </a:r>
            <a:endParaRPr lang="ru-RU" sz="1100" dirty="0"/>
          </a:p>
        </p:txBody>
      </p:sp>
      <p:sp>
        <p:nvSpPr>
          <p:cNvPr id="1090" name="Text 1090"/>
          <p:cNvSpPr txBox="1"/>
          <p:nvPr/>
        </p:nvSpPr>
        <p:spPr>
          <a:xfrm>
            <a:off x="8999525" y="2240280"/>
            <a:ext cx="23088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12 / 12</a:t>
            </a:r>
            <a:endParaRPr lang="ru-RU" sz="2600" dirty="0"/>
          </a:p>
        </p:txBody>
      </p:sp>
      <p:sp>
        <p:nvSpPr>
          <p:cNvPr id="1091" name="Text 1091"/>
          <p:cNvSpPr txBox="1"/>
          <p:nvPr/>
        </p:nvSpPr>
        <p:spPr>
          <a:xfrm>
            <a:off x="8999525" y="2715768"/>
            <a:ext cx="2308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заданий с арифметикой, проверенной кодом</a:t>
            </a:r>
            <a:endParaRPr lang="ru-RU" sz="1100"/>
          </a:p>
        </p:txBody>
      </p:sp>
      <p:sp>
        <p:nvSpPr>
          <p:cNvPr id="1092" name="Text 1092"/>
          <p:cNvSpPr txBox="1"/>
          <p:nvPr/>
        </p:nvSpPr>
        <p:spPr>
          <a:xfrm>
            <a:off x="6416345" y="3264408"/>
            <a:ext cx="23088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</a:t>
            </a:r>
            <a:endParaRPr lang="ru-RU" sz="2600"/>
          </a:p>
        </p:txBody>
      </p:sp>
      <p:sp>
        <p:nvSpPr>
          <p:cNvPr id="1093" name="Text 1093"/>
          <p:cNvSpPr txBox="1"/>
          <p:nvPr/>
        </p:nvSpPr>
        <p:spPr>
          <a:xfrm>
            <a:off x="6416345" y="3739896"/>
            <a:ext cx="2308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утечек ответа в лист ученика</a:t>
            </a:r>
            <a:endParaRPr lang="ru-RU" sz="1100"/>
          </a:p>
        </p:txBody>
      </p:sp>
      <p:sp>
        <p:nvSpPr>
          <p:cNvPr id="1094" name="Text 1094"/>
          <p:cNvSpPr txBox="1"/>
          <p:nvPr/>
        </p:nvSpPr>
        <p:spPr>
          <a:xfrm>
            <a:off x="8999525" y="3264408"/>
            <a:ext cx="23088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1133</a:t>
            </a:r>
            <a:endParaRPr lang="ru-RU" sz="2600" dirty="0"/>
          </a:p>
        </p:txBody>
      </p:sp>
      <p:sp>
        <p:nvSpPr>
          <p:cNvPr id="1095" name="Text 1095"/>
          <p:cNvSpPr txBox="1"/>
          <p:nvPr/>
        </p:nvSpPr>
        <p:spPr>
          <a:xfrm>
            <a:off x="8999525" y="3739896"/>
            <a:ext cx="2308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результата каталога со страницей; 1127 цитат сверены с PDF</a:t>
            </a:r>
            <a:endParaRPr lang="ru-RU" sz="1100"/>
          </a:p>
        </p:txBody>
      </p:sp>
      <p:sp>
        <p:nvSpPr>
          <p:cNvPr id="1096" name="Text 1096"/>
          <p:cNvSpPr txBox="1"/>
          <p:nvPr/>
        </p:nvSpPr>
        <p:spPr>
          <a:xfrm>
            <a:off x="6416345" y="4288536"/>
            <a:ext cx="23088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126 с</a:t>
            </a:r>
            <a:endParaRPr lang="ru-RU" sz="2600" dirty="0"/>
          </a:p>
        </p:txBody>
      </p:sp>
      <p:sp>
        <p:nvSpPr>
          <p:cNvPr id="1097" name="Text 1097"/>
          <p:cNvSpPr txBox="1"/>
          <p:nvPr/>
        </p:nvSpPr>
        <p:spPr>
          <a:xfrm>
            <a:off x="6416345" y="4764024"/>
            <a:ext cx="2308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генерация работы из 12 заданий</a:t>
            </a:r>
            <a:endParaRPr lang="ru-RU" sz="1100"/>
          </a:p>
        </p:txBody>
      </p:sp>
      <p:sp>
        <p:nvSpPr>
          <p:cNvPr id="1098" name="Text 1098"/>
          <p:cNvSpPr txBox="1"/>
          <p:nvPr/>
        </p:nvSpPr>
        <p:spPr>
          <a:xfrm>
            <a:off x="8999525" y="4288536"/>
            <a:ext cx="23088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$0,031–0,037</a:t>
            </a:r>
            <a:endParaRPr lang="ru-RU" sz="2200" dirty="0"/>
          </a:p>
        </p:txBody>
      </p:sp>
      <p:sp>
        <p:nvSpPr>
          <p:cNvPr id="1099" name="Text 1099"/>
          <p:cNvSpPr txBox="1"/>
          <p:nvPr/>
        </p:nvSpPr>
        <p:spPr>
          <a:xfrm>
            <a:off x="8999525" y="4764024"/>
            <a:ext cx="2308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стоимость одной работы (OpenRouter)</a:t>
            </a:r>
            <a:endParaRPr lang="ru-RU" sz="1100" dirty="0"/>
          </a:p>
        </p:txBody>
      </p:sp>
      <p:sp>
        <p:nvSpPr>
          <p:cNvPr id="1100" name="Text 1100"/>
          <p:cNvSpPr txBox="1"/>
          <p:nvPr/>
        </p:nvSpPr>
        <p:spPr>
          <a:xfrm>
            <a:off x="6416345" y="525780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1" dirty="0">
                <a:solidFill>
                  <a:srgbClr val="566572"/>
                </a:solidFill>
                <a:latin typeface="Arial"/>
                <a:ea typeface="Arial"/>
                <a:cs typeface="Arial"/>
              </a:rPr>
              <a:t>Нагрузка: 40 параллельных генераций без ошибок (тестовая модель, офлайн)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87394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B72D6680-BA8E-46CC-9282-6833430D56C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Эффект для бизнеса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345522D7-32B0-404B-9AF7-948864D91D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F5A262F3-3E0C-4C70-9343-B30C558CE9F1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A25717A0-196A-40BD-BC2D-56CB062CD939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9E8E847A-E7CB-4F2A-88F6-ADA61977E99A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101" name="Card 1101"/>
          <p:cNvSpPr/>
          <p:nvPr/>
        </p:nvSpPr>
        <p:spPr>
          <a:xfrm>
            <a:off x="609905" y="1572768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2" name="Num 1102"/>
          <p:cNvSpPr txBox="1"/>
          <p:nvPr/>
        </p:nvSpPr>
        <p:spPr>
          <a:xfrm>
            <a:off x="79278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103" name="Field 1103"/>
          <p:cNvSpPr txBox="1"/>
          <p:nvPr/>
        </p:nvSpPr>
        <p:spPr>
          <a:xfrm>
            <a:off x="1359713" y="1755648"/>
            <a:ext cx="41879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Изменение: </a:t>
            </a: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меньше времени учителя на подготовку диагностической работы; единый формат и привязка к ФГОС для методиста</a:t>
            </a:r>
            <a:endParaRPr lang="ru-RU" sz="1400"/>
          </a:p>
        </p:txBody>
      </p:sp>
      <p:sp>
        <p:nvSpPr>
          <p:cNvPr id="1104" name="Card 1104"/>
          <p:cNvSpPr/>
          <p:nvPr/>
        </p:nvSpPr>
        <p:spPr>
          <a:xfrm>
            <a:off x="6004865" y="1572768"/>
            <a:ext cx="5577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5" name="Num 1105"/>
          <p:cNvSpPr txBox="1"/>
          <p:nvPr/>
        </p:nvSpPr>
        <p:spPr>
          <a:xfrm>
            <a:off x="618774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  <a:endParaRPr lang="ru-RU" sz="1800"/>
          </a:p>
        </p:txBody>
      </p:sp>
      <p:sp>
        <p:nvSpPr>
          <p:cNvPr id="1106" name="Field 1106"/>
          <p:cNvSpPr txBox="1"/>
          <p:nvPr/>
        </p:nvSpPr>
        <p:spPr>
          <a:xfrm>
            <a:off x="6754673" y="1755648"/>
            <a:ext cx="464515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Расчёт </a:t>
            </a:r>
            <a:r>
              <a:rPr lang="ru-RU" sz="1400" b="1" dirty="0">
                <a:solidFill>
                  <a:srgbClr val="B5651D"/>
                </a:solidFill>
                <a:latin typeface="Arial"/>
                <a:ea typeface="Arial"/>
                <a:cs typeface="Arial"/>
              </a:rPr>
              <a:t>(гипотеза):</a:t>
            </a: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(время вручную − время с ботом) × число работ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(90 − 15) мин × 4 работы/мес × 20 учителей ≈ </a:t>
            </a: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100 ч в месяц на школу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0" i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Допущение: освободившееся время идёт на разбор результатов с детьми</a:t>
            </a:r>
            <a:endParaRPr lang="ru-RU" sz="1400"/>
          </a:p>
        </p:txBody>
      </p:sp>
      <p:sp>
        <p:nvSpPr>
          <p:cNvPr id="1107" name="Card 1107"/>
          <p:cNvSpPr/>
          <p:nvPr/>
        </p:nvSpPr>
        <p:spPr>
          <a:xfrm>
            <a:off x="609905" y="3584448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08" name="Num 1108"/>
          <p:cNvSpPr txBox="1"/>
          <p:nvPr/>
        </p:nvSpPr>
        <p:spPr>
          <a:xfrm>
            <a:off x="792785" y="37307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  <a:endParaRPr lang="ru-RU" sz="1800"/>
          </a:p>
        </p:txBody>
      </p:sp>
      <p:sp>
        <p:nvSpPr>
          <p:cNvPr id="1109" name="Field 1109"/>
          <p:cNvSpPr txBox="1"/>
          <p:nvPr/>
        </p:nvSpPr>
        <p:spPr>
          <a:xfrm>
            <a:off x="1359713" y="3767328"/>
            <a:ext cx="4187952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Затраты </a:t>
            </a:r>
            <a:r>
              <a:rPr lang="ru-RU" sz="14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(замер):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API ≈ $0,03 за работу → 100 учителей × 10 работ ≈ </a:t>
            </a: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$25–45 в месяц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сервер 1 vCPU / 2 ГБ; при локальной модели — GPU, без оплаты API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база ФГОС обновляется по команде в админке</a:t>
            </a:r>
            <a:endParaRPr lang="ru-RU" sz="1400"/>
          </a:p>
        </p:txBody>
      </p:sp>
      <p:sp>
        <p:nvSpPr>
          <p:cNvPr id="1110" name="Card 1110"/>
          <p:cNvSpPr/>
          <p:nvPr/>
        </p:nvSpPr>
        <p:spPr>
          <a:xfrm>
            <a:off x="6004865" y="3584448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1" name="Num 1111"/>
          <p:cNvSpPr txBox="1"/>
          <p:nvPr/>
        </p:nvSpPr>
        <p:spPr>
          <a:xfrm>
            <a:off x="6187745" y="373075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  <a:endParaRPr lang="ru-RU" sz="1800"/>
          </a:p>
        </p:txBody>
      </p:sp>
      <p:sp>
        <p:nvSpPr>
          <p:cNvPr id="1112" name="Field 1112"/>
          <p:cNvSpPr txBox="1"/>
          <p:nvPr/>
        </p:nvSpPr>
        <p:spPr>
          <a:xfrm>
            <a:off x="6754673" y="3767328"/>
            <a:ext cx="4645152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Статус: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затраты — замер</a:t>
            </a: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(docs/cost.md, OpenRouter)</a:t>
            </a:r>
            <a:endParaRPr lang="ru-RU" sz="140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400" b="1" dirty="0">
                <a:solidFill>
                  <a:srgbClr val="B5651D"/>
                </a:solidFill>
                <a:latin typeface="Arial"/>
                <a:ea typeface="Arial"/>
                <a:cs typeface="Arial"/>
              </a:rPr>
              <a:t>экономия времени — гипотеза</a:t>
            </a:r>
            <a:r>
              <a:rPr lang="ru-RU" sz="14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проверяется на пилоте</a:t>
            </a:r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22999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E07995D8-6458-459D-AD1F-A61CB40C4B2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 и материалы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C1D8A099-1293-4BAF-B6D9-527FA719303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60B9A644-BBF8-4C4F-964E-77DCFE21594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2148C3C2-FB22-4D64-BDF0-A1C7A0764C28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9D98EF44-9DFE-48A2-8FC7-9A8739897DBD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113" name="Card 1113"/>
          <p:cNvSpPr/>
          <p:nvPr/>
        </p:nvSpPr>
        <p:spPr>
          <a:xfrm>
            <a:off x="609905" y="1572768"/>
            <a:ext cx="6035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4" name="Num 1114"/>
          <p:cNvSpPr txBox="1"/>
          <p:nvPr/>
        </p:nvSpPr>
        <p:spPr>
          <a:xfrm>
            <a:off x="79278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115" name="Field 1115"/>
          <p:cNvSpPr txBox="1"/>
          <p:nvPr/>
        </p:nvSpPr>
        <p:spPr>
          <a:xfrm>
            <a:off x="1359713" y="1755648"/>
            <a:ext cx="5102352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Роли: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Редняков Дмитрий Алексеевич</a:t>
            </a: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— архитектура, ядро генерации и проверки, промпты, тесты кейса</a:t>
            </a:r>
            <a:endParaRPr lang="ru-RU" sz="1300" dirty="0"/>
          </a:p>
          <a:p>
            <a:pPr marL="201168" indent="-201168"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Калюжный  Артём Олегович</a:t>
            </a: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— Telegram-бот, хранилище, Word-выгрузка, Docker, CI, интеграция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Звонарёв Иван Сергеевич</a:t>
            </a: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— нормативная база: загрузка и разбор ФРП, каталог результатов, поиск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i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 готова продолжать внедрение</a:t>
            </a:r>
            <a:endParaRPr lang="ru-RU" sz="1300" dirty="0"/>
          </a:p>
        </p:txBody>
      </p:sp>
      <p:sp>
        <p:nvSpPr>
          <p:cNvPr id="1116" name="Card 1116"/>
          <p:cNvSpPr/>
          <p:nvPr/>
        </p:nvSpPr>
        <p:spPr>
          <a:xfrm>
            <a:off x="6919265" y="1572768"/>
            <a:ext cx="46634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17" name="Num 1117"/>
          <p:cNvSpPr txBox="1"/>
          <p:nvPr/>
        </p:nvSpPr>
        <p:spPr>
          <a:xfrm>
            <a:off x="710214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  <a:endParaRPr lang="ru-RU" sz="1800"/>
          </a:p>
        </p:txBody>
      </p:sp>
      <p:sp>
        <p:nvSpPr>
          <p:cNvPr id="1118" name="Field 1118"/>
          <p:cNvSpPr txBox="1"/>
          <p:nvPr/>
        </p:nvSpPr>
        <p:spPr>
          <a:xfrm>
            <a:off x="7669073" y="1755648"/>
            <a:ext cx="3730752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GitVerse:</a:t>
            </a:r>
            <a:endParaRPr lang="ru-RU" sz="1300" dirty="0"/>
          </a:p>
          <a:p>
            <a:pPr marL="201168" indent="-201168"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1" dirty="0" smtClean="0">
                <a:solidFill>
                  <a:srgbClr val="B5651D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1300" b="1" dirty="0">
                <a:solidFill>
                  <a:srgbClr val="B5651D"/>
                </a:solidFill>
                <a:latin typeface="Arial"/>
                <a:ea typeface="Arial"/>
                <a:cs typeface="Arial"/>
              </a:rPr>
              <a:t>https://gitverse.ru/Zerrant/T0004_SK01_Socrat</a:t>
            </a:r>
            <a:r>
              <a:rPr lang="ru-RU" sz="1300" b="1" dirty="0" smtClean="0">
                <a:solidFill>
                  <a:srgbClr val="B5651D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1119" name="Card 1119"/>
          <p:cNvSpPr/>
          <p:nvPr/>
        </p:nvSpPr>
        <p:spPr>
          <a:xfrm>
            <a:off x="609905" y="4087368"/>
            <a:ext cx="60350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20" name="Num 1120"/>
          <p:cNvSpPr txBox="1"/>
          <p:nvPr/>
        </p:nvSpPr>
        <p:spPr>
          <a:xfrm>
            <a:off x="792785" y="42336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  <a:endParaRPr lang="ru-RU" sz="1800"/>
          </a:p>
        </p:txBody>
      </p:sp>
      <p:sp>
        <p:nvSpPr>
          <p:cNvPr id="1121" name="Field 1121"/>
          <p:cNvSpPr txBox="1"/>
          <p:nvPr/>
        </p:nvSpPr>
        <p:spPr>
          <a:xfrm>
            <a:off x="1359713" y="4270248"/>
            <a:ext cx="510235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Запуск: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README.md — локально (Python 3.12) или docker compose up --build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демо-режим без ключей — USE_FAKES=true</a:t>
            </a:r>
            <a:endParaRPr lang="ru-RU" sz="1300" dirty="0"/>
          </a:p>
        </p:txBody>
      </p:sp>
      <p:sp>
        <p:nvSpPr>
          <p:cNvPr id="1122" name="Card 1122"/>
          <p:cNvSpPr/>
          <p:nvPr/>
        </p:nvSpPr>
        <p:spPr>
          <a:xfrm>
            <a:off x="6919265" y="4087368"/>
            <a:ext cx="46634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23" name="Num 1123"/>
          <p:cNvSpPr txBox="1"/>
          <p:nvPr/>
        </p:nvSpPr>
        <p:spPr>
          <a:xfrm>
            <a:off x="7102145" y="42336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  <a:endParaRPr lang="ru-RU" sz="1800"/>
          </a:p>
        </p:txBody>
      </p:sp>
      <p:sp>
        <p:nvSpPr>
          <p:cNvPr id="1124" name="Field 1124"/>
          <p:cNvSpPr txBox="1"/>
          <p:nvPr/>
        </p:nvSpPr>
        <p:spPr>
          <a:xfrm>
            <a:off x="7669073" y="4270248"/>
            <a:ext cx="373075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3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Проверка: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python scripts/run_case_tests.py → reports/case_tests.md</a:t>
            </a:r>
            <a:endParaRPr lang="ru-RU" sz="13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052849"/>
              </a:buClr>
              <a:buFont typeface="Arial"/>
              <a:buChar char="•"/>
            </a:pPr>
            <a:r>
              <a:rPr lang="ru-RU" sz="130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пример — examples/math_3_all; стоимость — docs/cost.md; ограничения — README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42686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192ECB55-29B1-444A-B441-0ADFC8C279B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Предложение по пилоту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CEFB3606-C2EB-4612-8146-1768DD1389CF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F5E5AB75-F08B-4814-8423-FA43A647EA5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1CBB27BF-99A4-453E-851E-467B7686C5CF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86CB9FD8-65D1-4A08-B381-6FC1FF4F5F2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25" name="Card 1125"/>
          <p:cNvSpPr/>
          <p:nvPr/>
        </p:nvSpPr>
        <p:spPr>
          <a:xfrm>
            <a:off x="609905" y="1572768"/>
            <a:ext cx="5349240" cy="137160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126" name="Num 1126"/>
          <p:cNvSpPr txBox="1"/>
          <p:nvPr/>
        </p:nvSpPr>
        <p:spPr>
          <a:xfrm>
            <a:off x="79278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  <a:endParaRPr lang="ru-RU" sz="1800"/>
          </a:p>
        </p:txBody>
      </p:sp>
      <p:sp>
        <p:nvSpPr>
          <p:cNvPr id="1127" name="Field 1127"/>
          <p:cNvSpPr txBox="1"/>
          <p:nvPr/>
        </p:nvSpPr>
        <p:spPr>
          <a:xfrm>
            <a:off x="1359713" y="1755648"/>
            <a:ext cx="441655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шаг: </a:t>
            </a: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школа, 5 учителей начальных классов, математика 3–4 классов, 4 недели; каждый учитель проводит 4 работы</a:t>
            </a:r>
            <a:endParaRPr lang="ru-RU" sz="1500" dirty="0"/>
          </a:p>
        </p:txBody>
      </p:sp>
      <p:sp>
        <p:nvSpPr>
          <p:cNvPr id="1128" name="Card 1128"/>
          <p:cNvSpPr/>
          <p:nvPr/>
        </p:nvSpPr>
        <p:spPr>
          <a:xfrm>
            <a:off x="6233465" y="1572768"/>
            <a:ext cx="5349240" cy="137160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129" name="Num 1129"/>
          <p:cNvSpPr txBox="1"/>
          <p:nvPr/>
        </p:nvSpPr>
        <p:spPr>
          <a:xfrm>
            <a:off x="6416345" y="171907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  <a:endParaRPr lang="ru-RU" sz="1800"/>
          </a:p>
        </p:txBody>
      </p:sp>
      <p:sp>
        <p:nvSpPr>
          <p:cNvPr id="1130" name="Field 1130"/>
          <p:cNvSpPr txBox="1"/>
          <p:nvPr/>
        </p:nvSpPr>
        <p:spPr>
          <a:xfrm>
            <a:off x="6983273" y="1755648"/>
            <a:ext cx="4416552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Владелец: </a:t>
            </a: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методист школы «Сократ» — принимает результат. Ресурсы: сервер и ≈ $</a:t>
            </a:r>
            <a:r>
              <a:rPr lang="ru-RU" sz="1500" b="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</a:t>
            </a: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API за весь пилот</a:t>
            </a:r>
            <a:endParaRPr lang="ru-RU" sz="1500" dirty="0"/>
          </a:p>
        </p:txBody>
      </p:sp>
      <p:sp>
        <p:nvSpPr>
          <p:cNvPr id="1131" name="Card 1131"/>
          <p:cNvSpPr/>
          <p:nvPr/>
        </p:nvSpPr>
        <p:spPr>
          <a:xfrm>
            <a:off x="609905" y="3218688"/>
            <a:ext cx="5349240" cy="228600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132" name="Num 1132"/>
          <p:cNvSpPr txBox="1"/>
          <p:nvPr/>
        </p:nvSpPr>
        <p:spPr>
          <a:xfrm>
            <a:off x="792785" y="336499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  <a:endParaRPr lang="ru-RU" sz="1800"/>
          </a:p>
        </p:txBody>
      </p:sp>
      <p:sp>
        <p:nvSpPr>
          <p:cNvPr id="1133" name="Field 1133"/>
          <p:cNvSpPr txBox="1"/>
          <p:nvPr/>
        </p:nvSpPr>
        <p:spPr>
          <a:xfrm>
            <a:off x="1359713" y="3401568"/>
            <a:ext cx="441655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Успех: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≥ 80% работ используются после правки не дольше 10 минут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ошибок в ответах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оценка учителей ≥ 4 из 5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 ≤ 15 минут против исходного замера</a:t>
            </a:r>
            <a:endParaRPr lang="ru-RU" sz="1500" dirty="0"/>
          </a:p>
        </p:txBody>
      </p:sp>
      <p:sp>
        <p:nvSpPr>
          <p:cNvPr id="1134" name="Card 1134"/>
          <p:cNvSpPr/>
          <p:nvPr/>
        </p:nvSpPr>
        <p:spPr>
          <a:xfrm>
            <a:off x="6233465" y="3218688"/>
            <a:ext cx="5349240" cy="2286000"/>
          </a:xfrm>
          <a:prstGeom prst="roundRect">
            <a:avLst>
              <a:gd name="adj" fmla="val 5000"/>
            </a:avLst>
          </a:prstGeom>
          <a:solidFill>
            <a:srgbClr val="0B3558"/>
          </a:solidFill>
          <a:ln>
            <a:noFill/>
          </a:ln>
        </p:spPr>
      </p:sp>
      <p:sp>
        <p:nvSpPr>
          <p:cNvPr id="1135" name="Num 1135"/>
          <p:cNvSpPr txBox="1"/>
          <p:nvPr/>
        </p:nvSpPr>
        <p:spPr>
          <a:xfrm>
            <a:off x="6416345" y="336499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  <a:endParaRPr lang="ru-RU" sz="1800"/>
          </a:p>
        </p:txBody>
      </p:sp>
      <p:sp>
        <p:nvSpPr>
          <p:cNvPr id="1136" name="Field 1136"/>
          <p:cNvSpPr txBox="1"/>
          <p:nvPr/>
        </p:nvSpPr>
        <p:spPr>
          <a:xfrm>
            <a:off x="6983273" y="3401568"/>
            <a:ext cx="441655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Решение: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выполнено</a:t>
            </a: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→ пилот на 5–9 классы и другие предметы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частично</a:t>
            </a: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→ доработка</a:t>
            </a:r>
            <a:endParaRPr lang="ru-RU" sz="1500" dirty="0"/>
          </a:p>
          <a:p>
            <a:pPr marL="201168" indent="-201168" algn="l"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учителя не используют работы</a:t>
            </a:r>
            <a:r>
              <a:rPr lang="ru-RU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→ остановка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1937686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1522</Words>
  <Application>Microsoft Office PowerPoint</Application>
  <DocSecurity>0</DocSecurity>
  <PresentationFormat>Широкоэкранный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Учетная запись Майкрософт</cp:lastModifiedBy>
  <cp:revision>6</cp:revision>
  <dcterms:created xsi:type="dcterms:W3CDTF">2026-09-06T13:48:20Z</dcterms:created>
  <dcterms:modified xsi:type="dcterms:W3CDTF">2026-09-24T21:26:17Z</dcterms:modified>
</cp:coreProperties>
</file>